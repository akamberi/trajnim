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Roboto"/>
      <p:regular r:id="rId27"/>
      <p:bold r:id="rId28"/>
      <p:italic r:id="rId29"/>
      <p:boldItalic r:id="rId30"/>
    </p:embeddedFont>
    <p:embeddedFont>
      <p:font typeface="Roboto Mon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5E730B8-C0DB-4B0E-8828-425066F2E04F}">
  <a:tblStyle styleId="{F5E730B8-C0DB-4B0E-8828-425066F2E04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ono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5.xml"/><Relationship Id="rId33" Type="http://schemas.openxmlformats.org/officeDocument/2006/relationships/font" Target="fonts/RobotoMono-italic.fntdata"/><Relationship Id="rId10" Type="http://schemas.openxmlformats.org/officeDocument/2006/relationships/slide" Target="slides/slide4.xml"/><Relationship Id="rId32" Type="http://schemas.openxmlformats.org/officeDocument/2006/relationships/font" Target="fonts/RobotoMono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RobotoMono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919934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6f91993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6f919934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c6f91993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743906997_0_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874390699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f5764aad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f5764aad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5f676c461_0_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5f676c46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5f676c461_0_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85f676c46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9f5764aad5_0_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9f5764aad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f5764aad5_0_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9f5764aad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f5764aad5_0_3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9f5764aad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f5764aad5_0_3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9f5764aad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19c6cfef3_0_4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19c6cfef3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19c6cfef3_0_5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19c6cfef3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19c6cfef3_0_6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19c6cfef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19c6cfef3_0_6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19c6cfef3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19c6cfef3_0_7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19c6cfef3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19c6cfef3_0_9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19c6cfef3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19c6cfef3_0_8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a19c6cfef3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19c6cfef3_0_8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a19c6cfef3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19c6cfef3_0_1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19c6cfef3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program.cs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program.cs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asp.net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623075" y="1075775"/>
            <a:ext cx="8222100" cy="230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LEKSION 7 : </a:t>
            </a:r>
            <a:r>
              <a:rPr lang="en"/>
              <a:t> Hyrje në ASP.NET Core dhe Struktura e Projektit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265500" y="1718250"/>
            <a:ext cx="4045200" cy="170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Temat</a:t>
            </a:r>
            <a:endParaRPr/>
          </a:p>
        </p:txBody>
      </p:sp>
      <p:sp>
        <p:nvSpPr>
          <p:cNvPr id="73" name="Google Shape;73;p1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Çfarë është ASP.NET Core?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Karakteristikat kryesore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Krijimi i një Projekti të Ri në Visual Studio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Struktura e Projektit ASP.NET Core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Analiza e `</a:t>
            </a:r>
            <a:r>
              <a:rPr lang="en" sz="16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Program.cs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`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Skedari `appsettings.json`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Shembull praktik – “HelloWorldApp”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Çfarë është ASP.NET Core?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0" y="1609750"/>
            <a:ext cx="9144000" cy="3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**ASP.NET Core** është një kornizë (framework) moderne për ndërtimin e **aplikacioneve web** me gjuhën C#.Është zhvilluar nga Microsoft dhe është **open-source**, **cross-platform** (punon në Windows, Linux, macOS) dhe **shumë e shpejtë**.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Karakteristikat kryesore:</a:t>
            </a:r>
            <a:endParaRPr b="1"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**Cross-platform**: Mund të ekzekutohet në çdo sistem operativ.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**Performancë e lartë**: Ndërtuar nga e para me .NET Core runtime.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**Modulare**: Përfshin vetëm komponentët që nevojiten.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**Mbështet MVC**: Model–View–Controller për ndarje të pastër të logjikës.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**Mbështet Razor Pages, Web API dhe Blazor**.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471900" y="226475"/>
            <a:ext cx="8222100" cy="128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Çfarë është ASP.NET Core?</a:t>
            </a:r>
            <a:endParaRPr/>
          </a:p>
        </p:txBody>
      </p:sp>
      <p:graphicFrame>
        <p:nvGraphicFramePr>
          <p:cNvPr id="85" name="Google Shape;85;p16"/>
          <p:cNvGraphicFramePr/>
          <p:nvPr/>
        </p:nvGraphicFramePr>
        <p:xfrm>
          <a:off x="311400" y="1964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{F5E730B8-C0DB-4B0E-8828-425066F2E04F}</a:tableStyleId>
              </a:tblPr>
              <a:tblGrid>
                <a:gridCol w="2036875"/>
                <a:gridCol w="3561125"/>
                <a:gridCol w="3008125"/>
              </a:tblGrid>
              <a:tr h="387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Teknologjia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Përshkrimi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Gjendja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625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ASP.NET Web Forms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Version i vjetër, bazuar në evente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🟥 I vjetëruar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25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ASP.NET MVC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Arkitekturë e qartë MVC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🟨 Ende përdoret në disa projekte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25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ASP.NET Core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Version modern, i unifikuar, open-source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🟩 Aktual dhe i rekomanduar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Krijimi i nje projekti te ri ne visual studio</a:t>
            </a:r>
            <a:endParaRPr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0" y="1641950"/>
            <a:ext cx="9144000" cy="35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Hapat për krijim: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1. Hap **Visual Studio 2022** (ose versionin që përdorni).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2. Kliko **Create a new project**.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3. Zgjidh **ASP.NET Core Web App (Model-View-Controller)**.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4. Jep emrin e projektit, p.sh. `HelloWorldApp`.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5. Zgjidh `.NET 8.0` (ose versionin që ke në dispozicion).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6. Lëre **Authentication = None** për thjeshtësi dhe ne fund kliko Create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Struktura e Projektit ASP.NET Core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0" y="1609750"/>
            <a:ext cx="4572000" cy="3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Pas krijimit, Visual Studio do të hapë projektin me strukturën e mëposhtme.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HelloWorldApp/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├── Controllers/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│   └── HomeController.cs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├── Models/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├── Views/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│   └── Home/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4572000" y="1609750"/>
            <a:ext cx="4572000" cy="3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│       └── Index.cshtml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│   └── Shared/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│       └── _Layout.cshtml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├── wwwroot/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│   ├── css/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│   ├── js/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├── appsettings.json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└── Program.cs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Përshkrimi i dosjeve:</a:t>
            </a:r>
            <a:endParaRPr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0" y="1609750"/>
            <a:ext cx="9144000" cy="3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AutoNum type="arabicPeriod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Controllers - permban klasat qe perpunojne kerkesat nga perdoruesit dhe vendosin cilen view te kthejne.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AutoNum type="arabicPeriod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Models - Përmban klasat e të dhënave dhe logjikën e biznesit (p.sh. entitetet Student, Course, etj.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AutoNum type="arabicPeriod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Views - Përmban faqet HTML (me Razor syntax) që i dërgohen përdoruesit.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AutoNum type="arabicPeriod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wwwroot - Përmban burimet statike: CSS, JavaScript, imazhe.   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AutoNum type="arabicPeriod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Appsettings.json - Skedari i konfigurimit të aplikacionit (p.sh. lidhja me bazën e të dhënave).       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AutoNum type="arabicPeriod"/>
            </a:pPr>
            <a:r>
              <a:rPr lang="en" sz="1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Program.cs</a:t>
            </a: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 Skedari kryesor ku konfigurohet dhe ekzekutohet aplikacioni.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Analiza e `Program.cs`</a:t>
            </a:r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0" y="1609750"/>
            <a:ext cx="4218000" cy="3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**Ky skedar** është pika e hyrjes së aplikacionit (si `Main()` në një program normal C#).</a:t>
            </a:r>
            <a:endParaRPr b="1"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builder = WebApplication.CreateBuilder(args);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Shto shërbimet për MVC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builder.Services.AddControllersWithViews();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app = builder.Build();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Aktivizo static files (CSS, JS, imazhe)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app.UseStaticFiles();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4342200" y="1609925"/>
            <a:ext cx="4801800" cy="3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Aktivizo routing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app.MapControllerRoute(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name: "default",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pattern: "{controller=Home}/{action=Index}/{id?}");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Fillo ekzekutimin e aplikacionit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app.Run();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Shpjegimi i Program.cs</a:t>
            </a:r>
            <a:endParaRPr/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0" y="1609750"/>
            <a:ext cx="9144000" cy="3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`AddControllersWithViews()` → aktivizon modelin MVC.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`UseStaticFiles()` → lejon ngarkimin e burimeve (CSS, JS).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`MapControllerRoute()` → përcakton rregullin për URL-të.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`app.Run()` → nis serverin web.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Skedari `appsettings.json`</a:t>
            </a:r>
            <a:endParaRPr/>
          </a:p>
        </p:txBody>
      </p:sp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0" y="1609750"/>
            <a:ext cx="4572000" cy="3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Ky skedar përdoret për **konfigurime** (p.sh. lidhje me bazën e të dhënave, logim, etj.)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Shembull bazë: json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"Logging": {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"LogLevel": {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"Default": "Information",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"Microsoft.AspNetCore": "Warning"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4710250" y="1726875"/>
            <a:ext cx="4572000" cy="33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"AllowedHosts": "*"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Me vone mund do te shtojme edhe ;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"ConnectionStrings": {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"DefaultConnection": "Server=.;Database=MyDb;Trusted_Connection=True;"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Shembull praktik – “HelloWorldApp”</a:t>
            </a:r>
            <a:endParaRPr/>
          </a:p>
        </p:txBody>
      </p:sp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0" y="1609750"/>
            <a:ext cx="4572000" cy="3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Hapi 1: Krijo Controller-in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Në dosjen `Controllers/`, krijo një klasë të re `HomeController.cs`: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Microsoft.AspNetCore.Mvc;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namespace HelloWorldApp.Controllers {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public class HomeController : Controller {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public IActionResult Index()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{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4572000" y="1609750"/>
            <a:ext cx="4572000" cy="3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ViewData["Message"] = "Përshëndetje nga ASP.NET Core!";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return View();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}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}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Shembull praktik – “HelloWorldApp”</a:t>
            </a:r>
            <a:endParaRPr/>
          </a:p>
        </p:txBody>
      </p:sp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0" y="1609750"/>
            <a:ext cx="4572000" cy="3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Hapi 2: Krijo View-in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Në dosjen `Views/Home/`, krijo një skedar `Index.cshtml`: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```html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@{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ViewData["Title"] = "Faqja Kryesore";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24"/>
          <p:cNvSpPr txBox="1"/>
          <p:nvPr>
            <p:ph idx="1" type="body"/>
          </p:nvPr>
        </p:nvSpPr>
        <p:spPr>
          <a:xfrm>
            <a:off x="4572000" y="1609750"/>
            <a:ext cx="4572000" cy="3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&lt;h1&gt;@ViewData["Message"]&lt;/h1&gt;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&lt;p&gt;Kjo është faqja juaj e parë ASP.NET Core!&lt;/p&gt;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Shembull praktik – “HelloWorldApp”</a:t>
            </a:r>
            <a:endParaRPr/>
          </a:p>
        </p:txBody>
      </p:sp>
      <p:sp>
        <p:nvSpPr>
          <p:cNvPr id="144" name="Google Shape;144;p25"/>
          <p:cNvSpPr txBox="1"/>
          <p:nvPr>
            <p:ph idx="1" type="body"/>
          </p:nvPr>
        </p:nvSpPr>
        <p:spPr>
          <a:xfrm>
            <a:off x="0" y="1609750"/>
            <a:ext cx="9144000" cy="3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Hapi 3: Ekzekuto aplikacionin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Kliko butonin **▶️ Run** në Visual Studio.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Në browser, hapet: `https://localhost:xxxx`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Do të shfaqet mesazhi: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**“Përshëndetje nga ASP.NET Core!”**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Ushtrimi 1</a:t>
            </a:r>
            <a:endParaRPr/>
          </a:p>
        </p:txBody>
      </p:sp>
      <p:sp>
        <p:nvSpPr>
          <p:cNvPr id="150" name="Google Shape;150;p26"/>
          <p:cNvSpPr txBox="1"/>
          <p:nvPr>
            <p:ph idx="1" type="body"/>
          </p:nvPr>
        </p:nvSpPr>
        <p:spPr>
          <a:xfrm>
            <a:off x="0" y="1609750"/>
            <a:ext cx="9144000" cy="3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Krijo një faqe "About"**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Shto një controller të ri `AboutController.cs` me një metodë `Index()` që kthen një view.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Krijo view-in `Views/About/Index.cshtml` që shfaq tekstin: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“Kjo është faqja About e ndërtuar nga [Emri yt].”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Ushtrimi 1 - zgjidhje</a:t>
            </a:r>
            <a:endParaRPr/>
          </a:p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0" y="1609750"/>
            <a:ext cx="4572000" cy="3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class AboutController : Controller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public IActionResult Index()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{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return View();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}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27"/>
          <p:cNvSpPr txBox="1"/>
          <p:nvPr>
            <p:ph idx="1" type="body"/>
          </p:nvPr>
        </p:nvSpPr>
        <p:spPr>
          <a:xfrm>
            <a:off x="4572000" y="1609750"/>
            <a:ext cx="3029100" cy="3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class AboutController : Controller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public IActionResult Index()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{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return View();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}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Eksperimentim me routing</a:t>
            </a:r>
            <a:endParaRPr/>
          </a:p>
        </p:txBody>
      </p:sp>
      <p:sp>
        <p:nvSpPr>
          <p:cNvPr id="163" name="Google Shape;163;p28"/>
          <p:cNvSpPr txBox="1"/>
          <p:nvPr>
            <p:ph idx="1" type="body"/>
          </p:nvPr>
        </p:nvSpPr>
        <p:spPr>
          <a:xfrm>
            <a:off x="0" y="1609750"/>
            <a:ext cx="9144000" cy="3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Provo të ndryshosh `pattern` në `Program.cs`: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pattern: "{controller=About}/{action=Index}/{id?}"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Pastaj shiko se cila faqe hapet si e paracaktuar.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Çfarë ndodh kur ndryshon “default route”?</a:t>
            </a:r>
            <a:endParaRPr/>
          </a:p>
        </p:txBody>
      </p:sp>
      <p:sp>
        <p:nvSpPr>
          <p:cNvPr id="169" name="Google Shape;169;p29"/>
          <p:cNvSpPr txBox="1"/>
          <p:nvPr>
            <p:ph idx="1" type="body"/>
          </p:nvPr>
        </p:nvSpPr>
        <p:spPr>
          <a:xfrm>
            <a:off x="0" y="1609750"/>
            <a:ext cx="4572000" cy="3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Në ASP.NET Core, route përcakton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cilin controller dhe action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 të ekzekutojë kërkesa pa parametra.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Shembull (default):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app.MapControllerRoute(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name: "default",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pattern: "{controller=Home}/{action=Index}/{id?}");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Nese e ndryshojme ne: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pattern: "{controller=Product}/{action=List}/{id?}");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9"/>
          <p:cNvSpPr txBox="1"/>
          <p:nvPr/>
        </p:nvSpPr>
        <p:spPr>
          <a:xfrm>
            <a:off x="4572000" y="1609750"/>
            <a:ext cx="4572000" cy="16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Ajo që ndodh është: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Kur hap faqen kryesore (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en" sz="1100"/>
              <a:t>), </a:t>
            </a:r>
            <a:r>
              <a:rPr b="1" lang="en" sz="1100"/>
              <a:t>nuk shkon më te Home/Index</a:t>
            </a:r>
            <a:r>
              <a:rPr lang="en" sz="1100"/>
              <a:t>,</a:t>
            </a:r>
            <a:br>
              <a:rPr lang="en" sz="1100"/>
            </a:br>
            <a:r>
              <a:rPr lang="en" sz="1100"/>
              <a:t> por tani hapet automatikisht </a:t>
            </a:r>
            <a:r>
              <a:rPr b="1" lang="en" sz="1100"/>
              <a:t>Product/List</a:t>
            </a:r>
            <a:r>
              <a:rPr lang="en" sz="1100"/>
              <a:t>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Pra, ndryshon </a:t>
            </a:r>
            <a:r>
              <a:rPr b="1" lang="en" sz="1100"/>
              <a:t>faqja fillestare</a:t>
            </a:r>
            <a:r>
              <a:rPr lang="en" sz="1100"/>
              <a:t> që ngarkohet kur përdoruesi viziton aplikacionin.</a:t>
            </a:r>
            <a:br>
              <a:rPr lang="en" sz="1100"/>
            </a:br>
            <a:endParaRPr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>
            <p:ph type="title"/>
          </p:nvPr>
        </p:nvSpPr>
        <p:spPr>
          <a:xfrm>
            <a:off x="471900" y="254775"/>
            <a:ext cx="8222100" cy="125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Ndryshimi midis nje app ne console dhe </a:t>
            </a:r>
            <a:r>
              <a:rPr lang="en" u="sng">
                <a:solidFill>
                  <a:schemeClr val="hlink"/>
                </a:solidFill>
                <a:hlinkClick r:id="rId3"/>
              </a:rPr>
              <a:t>ASP.NET</a:t>
            </a:r>
            <a:r>
              <a:rPr lang="en"/>
              <a:t> Core?</a:t>
            </a:r>
            <a:endParaRPr/>
          </a:p>
        </p:txBody>
      </p:sp>
      <p:graphicFrame>
        <p:nvGraphicFramePr>
          <p:cNvPr id="176" name="Google Shape;176;p30"/>
          <p:cNvGraphicFramePr/>
          <p:nvPr/>
        </p:nvGraphicFramePr>
        <p:xfrm>
          <a:off x="259763" y="1766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{F5E730B8-C0DB-4B0E-8828-425066F2E04F}</a:tableStyleId>
              </a:tblPr>
              <a:tblGrid>
                <a:gridCol w="1470900"/>
                <a:gridCol w="3640875"/>
                <a:gridCol w="3540975"/>
              </a:tblGrid>
              <a:tr h="456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Tipari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Console Application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ASP.NET Core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992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Qëllimi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Program që ekzekutohet në terminal, zakonisht për logjikë, teste ose programe të thjeshta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Framework për ndërtimin e </a:t>
                      </a:r>
                      <a:r>
                        <a:rPr b="1" lang="en" sz="1100"/>
                        <a:t>web aplikacioneve</a:t>
                      </a:r>
                      <a:r>
                        <a:rPr lang="en" sz="1100"/>
                        <a:t> dhe </a:t>
                      </a:r>
                      <a:r>
                        <a:rPr b="1" lang="en" sz="1100"/>
                        <a:t>API-ve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642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Ndërveprimi me përdoruesin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Përdoruesi jep të dhëna në </a:t>
                      </a:r>
                      <a:r>
                        <a:rPr b="1" lang="en" sz="1100"/>
                        <a:t>konsolë</a:t>
                      </a:r>
                      <a:r>
                        <a:rPr lang="en" sz="1100"/>
                        <a:t> (input/output tekstual)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Përdoruesi ndërvepron përmes </a:t>
                      </a:r>
                      <a:r>
                        <a:rPr b="1" lang="en" sz="1100"/>
                        <a:t>browser-it</a:t>
                      </a:r>
                      <a:r>
                        <a:rPr lang="en" sz="1100"/>
                        <a:t> (HTTP kërkesa dhe përgjigje)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642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Ekzekutimi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Fillon nga </a:t>
                      </a: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Main()</a:t>
                      </a:r>
                      <a:r>
                        <a:rPr lang="en" sz="1100"/>
                        <a:t> dhe mbaron pas përfundimit të kodit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Ekzekutohet si </a:t>
                      </a:r>
                      <a:r>
                        <a:rPr b="1" lang="en" sz="1100"/>
                        <a:t>server web</a:t>
                      </a:r>
                      <a:r>
                        <a:rPr lang="en" sz="1100"/>
                        <a:t> që pret kërkesa vazhdimisht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642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Bibliotekat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Përdor vetëm .NET bazë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Përdor </a:t>
                      </a:r>
                      <a:r>
                        <a:rPr b="1" lang="en" sz="1100"/>
                        <a:t>ASP.NET Core</a:t>
                      </a:r>
                      <a:r>
                        <a:rPr lang="en" sz="1100"/>
                        <a:t> me controller, routing, dependency injection, middleware, etj.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/>
          <p:nvPr>
            <p:ph type="title"/>
          </p:nvPr>
        </p:nvSpPr>
        <p:spPr>
          <a:xfrm>
            <a:off x="471900" y="254775"/>
            <a:ext cx="8222100" cy="125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Pse kemi nevoje per strukturen MVC?</a:t>
            </a:r>
            <a:endParaRPr/>
          </a:p>
        </p:txBody>
      </p:sp>
      <p:graphicFrame>
        <p:nvGraphicFramePr>
          <p:cNvPr id="182" name="Google Shape;182;p31"/>
          <p:cNvGraphicFramePr/>
          <p:nvPr/>
        </p:nvGraphicFramePr>
        <p:xfrm>
          <a:off x="322250" y="1822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{F5E730B8-C0DB-4B0E-8828-425066F2E04F}</a:tableStyleId>
              </a:tblPr>
              <a:tblGrid>
                <a:gridCol w="1122575"/>
                <a:gridCol w="70995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Pjesa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Përgjegjësia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Model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Përfaqëson të dhënat dhe logjikën e biznesit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View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Shfaqja vizuale (HTML, Razor) që përdoruesi sheh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Controller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Merr kërkesat nga përdoruesi, thërret modelin, dhe kthen view-n e duhur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3" name="Google Shape;183;p31"/>
          <p:cNvSpPr txBox="1"/>
          <p:nvPr/>
        </p:nvSpPr>
        <p:spPr>
          <a:xfrm>
            <a:off x="471900" y="3689525"/>
            <a:ext cx="7596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Avantazhi: më shumë </a:t>
            </a:r>
            <a:r>
              <a:rPr b="1" lang="en" sz="1100"/>
              <a:t>strukturë</a:t>
            </a:r>
            <a:r>
              <a:rPr lang="en" sz="1100"/>
              <a:t>, </a:t>
            </a:r>
            <a:r>
              <a:rPr b="1" lang="en" sz="1100"/>
              <a:t>mirëmbajtje më e lehtë</a:t>
            </a:r>
            <a:r>
              <a:rPr lang="en" sz="1100"/>
              <a:t> dhe </a:t>
            </a:r>
            <a:r>
              <a:rPr b="1" lang="en" sz="1100"/>
              <a:t>testim më i thjeshtë</a:t>
            </a:r>
            <a:r>
              <a:rPr lang="en" sz="1100"/>
              <a:t>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2"/>
          <p:cNvSpPr txBox="1"/>
          <p:nvPr>
            <p:ph type="title"/>
          </p:nvPr>
        </p:nvSpPr>
        <p:spPr>
          <a:xfrm>
            <a:off x="471900" y="254775"/>
            <a:ext cx="8222100" cy="125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Permbledhje</a:t>
            </a:r>
            <a:endParaRPr/>
          </a:p>
        </p:txBody>
      </p:sp>
      <p:sp>
        <p:nvSpPr>
          <p:cNvPr id="189" name="Google Shape;189;p32"/>
          <p:cNvSpPr txBox="1"/>
          <p:nvPr/>
        </p:nvSpPr>
        <p:spPr>
          <a:xfrm>
            <a:off x="471900" y="1811800"/>
            <a:ext cx="7879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ASP.NET Core është framework modern për ndërtimin e aplikacioneve web.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 Struktura MVC ndan logjikën (Controller), të dhënat (Model), dhe pamjen (View).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 Skedarët `Program.cs` dhe `appsettings.json` janë zemra e konfigurimit.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 Me vetëm pak rreshta kodi, mund të krijosh një faqe dinamike.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